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37744"/>
            <a:ext cx="4160520" cy="6314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32104"/>
            <a:ext cx="13953744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UNIVERSIDADE FEDERAL DE SANTA MARIA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COLÉGIO POLITÉCNICO DA UFSM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CURSO SUPERIOR DE TECNOLOGIA EM SISTEMAS PARA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136392"/>
            <a:ext cx="13953744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MATHEUS GABRIEL FLECK DE MELLO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97680"/>
            <a:ext cx="1395374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900" b="1" i="0">
                <a:solidFill>
                  <a:srgbClr val="000000"/>
                </a:solidFill>
                <a:latin typeface="Times New Roman"/>
              </a:rPr>
              <a:t>SISBOLSA — API REST DE GESTÃO DE BOLSISTAS E LABORATÓRIOS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61704" y="5897880"/>
            <a:ext cx="8202168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30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Apresentação referente à disciplina de Programação Orientada a Objetos para Web II, do Curso Superior de Tecnologia em Sistemas para Internet, da Universidade Federal de Santa Maria, cursada em regime de autodidatismo.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8951976"/>
            <a:ext cx="13953744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Santa Maria, RS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  CONTEXTO E ORIGINALIDADE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6376904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é uma API REST autoral para a gestão de bolsistas de pesquisa de uma instituição: cadastro de professores, laboratórios, projetos e bolsistas, controle de frequência com emissão de comprovante em PDF, relatórios agregados e trilha de auditoria. O projeto nasceu na disciplina de Programação Orientada a Objetos para Web I e, nesta disciplina, foi reescrito com foco total no backend — a camada de apresentação saiu do escopo e o repositório passou a expor somente a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1637690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Superfície da API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9 controllers REST e 53 endpoints sob /api/v1, um controller por recurso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Qualidade verificável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151 testes automatizados, sem dependência de banco externo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Documentação viva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OpenAPI 3 / Swagger UI gerados a partir das próprias anotações do código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Implantação reproduzível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Docker Compose sobe banco e API com migrations e massa de demonstração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7406640"/>
            <a:ext cx="1637690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Repositório do sistema: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2  MOTIVAÇÃO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 – Formulário de registro de frequência do CTISM</a:t>
            </a:r>
          </a:p>
        </p:txBody>
      </p:sp>
      <p:pic>
        <p:nvPicPr>
          <p:cNvPr id="7" name="Picture 6" descr="frequencia_pap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34640"/>
            <a:ext cx="6035040" cy="6289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9251981"/>
            <a:ext cx="60350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Acervo do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212848"/>
            <a:ext cx="963777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projeto nasceu da experiência com a minha própria bolsa no setor de realidade virtual e inteligência artificial do CTISM. O controle de frequência era o formulário ao lado: data, entrada, saída, horas e atividade preenchidos à mão, com espaço para a rubrica do monitor e do preceptor — depois digitalizado e enviado por e-mail.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4370832"/>
            <a:ext cx="963777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Registro manual e sem validação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nada impede hora sobreposta, data inválida ou total de horas que não fecha com o período da bolsa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Sem rastreabilidade das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 papel não gera comprovante verificável nem trilha auditável do que foi alterado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Controle disperso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 professor e laboratório mantém os próprios arquivos, sem consolidação institucional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Ocupação dos laboratórios invisível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não havia como saber, em tempo real, quantas vagas restam em cada laboratório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3  OBJETIVOS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3.1 OBJETIVO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7772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250" b="0" i="0">
                <a:solidFill>
                  <a:srgbClr val="000000"/>
                </a:solidFill>
                <a:latin typeface="Times New Roman"/>
              </a:rPr>
              <a:t>Desenvolver uma API REST completa para a gestão de bolsistas de pesquisa, cobrindo o cadastro de professores, laboratórios e projetos, o vínculo de bolsistas, o controle de frequência com emissão de comprovante em PDF, a geração de relatórios e exportações em CSV e uma trilha de auditoria completa, com controle de acesso por perfil.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64624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3.2 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64624" y="2798064"/>
            <a:ext cx="7680960" cy="5852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Seguir as boas práticas de REST na camada de controller: um recurso por controller, semântica correta de verbos e códigos HTTP, 201 Created com header Location e links HATEOAS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Concentrar as regras de negócio e as permissões na camada de service, mantendo o controller restrito a receber a requisição e montar a resposta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Modelar e persistir o domínio com Spring Data JPA/Hibernate sobre PostgreSQL, com o schema versionado por migrations do Flyway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Implementar autenticação stateless com JWT em cookie httpOnly, BCrypt e rate limiting anti-força-bruta, com autorização por papel de acesso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e) Validar a entrada com Bean Validation e traduzir as exceções de domínio para os status HTTP correspondentes, com corpo de erro padronizado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f) Documentar a coleção de endpoints com OpenAPI 3 / Swagger, gerada a partir do próprio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4.1 DIAGRAMA DE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Usuario é uma classe abstrata anotada com @MappedSuperclass: concentra os atributos comuns (id, nome, e-mail, senha, tipo de usuário) sem virar tabela própria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Bolsista e Professor herdam dela e são entidades concretas, cada uma com a sua tabela e a sua chave primária em UUID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Bolsista concentra os vínculos: laboratório de lotação, projetos (N:N) e os apontamentos de frequência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Cargo e ModalidadeBolsa são enums persistidos como texto; Auditoria registra as ações relevantes de qualquer 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21408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2 – Diagrama de classes do domínio</a:t>
            </a:r>
          </a:p>
        </p:txBody>
      </p:sp>
      <p:pic>
        <p:nvPicPr>
          <p:cNvPr id="9" name="Picture 8" descr="classes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670048"/>
            <a:ext cx="5869858" cy="6035040"/>
          </a:xfrm>
          <a:prstGeom prst="rect">
            <a:avLst/>
          </a:prstGeom>
        </p:spPr>
      </p:pic>
      <p:pic>
        <p:nvPicPr>
          <p:cNvPr id="10" name="Picture 9" descr="classes_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0" y="2670048"/>
            <a:ext cx="5619338" cy="6035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1 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2 de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9098280"/>
            <a:ext cx="105613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3 – Modelo conceitual (MER)</a:t>
            </a:r>
          </a:p>
        </p:txBody>
      </p:sp>
      <p:pic>
        <p:nvPicPr>
          <p:cNvPr id="7" name="Picture 6" descr="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487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0453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4.2 MODELO CONCEITUAL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recorte do domínio na notação de Chen (1976), com seis entidades principais;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um professor coordena laboratórios e orienta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bolsistas são alocados a um laboratório e vinculados a projetos em relação N:N, materializada pela tabela associativa;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cada apontamento de frequência pertence a um bolsista, e toda ação relevante do sistema gera um registro de auditoria.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4 – Modelo lógico (DER)</a:t>
            </a:r>
          </a:p>
        </p:txBody>
      </p:sp>
      <p:pic>
        <p:nvPicPr>
          <p:cNvPr id="7" name="Picture 6" descr="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58200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645538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4.3 MODELO LÓGICO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esquema relacional derivado das migrations do Flyway;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chave primária em UUID gerada pelo próprio banco em todas as tabelas;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tabela associativa bolsista_projeto para a relação N:N entre bolsista e projeto;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exclusão lógica por campo ativo: nenhum registro é removido fisicamente, preservando o histórico de frequência e de vínculos.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5 – Visão geral da arquitetura</a:t>
            </a:r>
          </a:p>
        </p:txBody>
      </p:sp>
      <p:pic>
        <p:nvPicPr>
          <p:cNvPr id="7" name="Picture 6" descr="diag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10433304" cy="21736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59346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5.1 VISÃO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a API é o único ponto de entrada: fala JSON sobre HTTPS e não pressupõe um frontend específico;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a sessão é stateless — o usuário é reconstruído a cada requisição a partir do JWT guardado em cookie httpOnly;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a requisição atravessa controller, service e repository, nessa ordem, até o PostgreSQL;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o ambiente sobe inteiro com Docker Compose: banco e API, com as migrations do Flyway e a massa de demonstração aplicadas automaticamente.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5.2 CAMADAS DA APLICAÇÃO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6 – Camadas da aplicação e pacotes correspondentes</a:t>
            </a:r>
          </a:p>
        </p:txBody>
      </p:sp>
      <p:pic>
        <p:nvPicPr>
          <p:cNvPr id="8" name="Picture 7" descr="diag_cama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337560"/>
            <a:ext cx="16376904" cy="4378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88024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Cada camada só conhece a camada imediatamente abaixo. O controller não contém regra de negócio: a decisão de quem pode o quê, a busca que resulta em 404 e as validações de domínio vivem no 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5.3 ORGANIZAÇÃO DO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1521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7 – Estrutura de pacotes do projeto</a:t>
            </a:r>
          </a:p>
        </p:txBody>
      </p:sp>
      <p:pic>
        <p:nvPicPr>
          <p:cNvPr id="8" name="Picture 7" descr="diag_estru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11521440" cy="41197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512211"/>
            <a:ext cx="115214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0" y="27432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LEITURA DA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0" y="3401568"/>
            <a:ext cx="4434840" cy="548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um pacote por responsabilidade, espelhando as camadas;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dto/ é o maior pacote (20 arquivos) porque cada recurso tem contratos próprios de entrada e saída, isolando a API das entidades;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os testes espelham a estrutura de main, concentrados na camada de service — onde estão as regras;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as migrations versionam o schema: subir o projeto do zero reproduz o banco inteiro.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5.4 TECNOLOGIAS UTILIZADAS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1 – Tecnologias do projeto e sua função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4032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Tecnologia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Função no projeto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Boot 4.0.6 / Java 21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Base da aplicação e injeção de dependências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Web 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Camada REST: mapeamento de rotas, verbos e status HTTP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Data JPA / Hibernate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Persistência, repositórios e mapeamento objeto-relacional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PostgreSQL 15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Banco de dados 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Flyway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Versionamento do schema por migrations numeradas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Security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Autorização por papel e cadeia de filtros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JJWT + BCrypt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Emissão e leitura do token JWT e hash das senhas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Bean Validation (Jakarta)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Validação declarativa dos DTOs de entrada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springdoc-openapi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do OpenAPI 3 e da interface Swagger UI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HATEOAS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Links de navegação nas respostas de recurso individual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OpenPDF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nativa do comprovante de frequência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JUnit 5 + Mockito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Testes unitários e de controller com MockMvc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Docker Compose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Subida do ambiente completo (banco e API)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7232904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STACK EM UMA 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API em Java 21 com Spring Boot 4, persistência em PostgreSQL versionada por Flyway, segurança com JWT e Spring Security, documentação em OpenAPI 3 e ambiente em Docker.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6  FUNCIONALIDADES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Bolsistas e vínculos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cadastro, lotação em laboratório, cargo, modalidade e vigência da bolsa, com alerta de bolsa vencida ou a vencer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Professores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 dos coordenadores, restrito ao perfil de administrador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Laboratórios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capacidade, coordenação e percentual de ocupação calculado em tempo real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Projetos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gestão por laboratório, com vínculo e desvínculo de bolsistas da 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e) Frequência e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apontamento com descrição e link de entregável, resumo mensal e exportação em CSV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f) Comprovante em PDF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documento institucional gerado pela própria API, com tabela de apontamentos e campos de assinatura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g) Relatórios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ocupação dos laboratórios, horas no mês, projetos por laboratório e distribuição por cargo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h) Auditoria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toda ação relevante vira registro consultável, com filtros e exportação em 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7.1 RECURSOS E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2 – Recursos da API e principais operações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6376904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3200400"/>
                <a:gridCol w="111648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Recurso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Base da URL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Principais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paginada e busca por nome ou curso, cadastro, atualização (PUT), desativação, exportação CSV, cargos e modalidades — cobre também os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 dos coordenadores —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Laboratórios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/api/v1/laboratorios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consulta de bolsistas e projetos vinculados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vincular e desvincular bolsista da equipe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Frequências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/api/v1/frequencias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Registro, atualização, resumo mensal, exportação CSV e comprovante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Relatórios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/api/v1/relatorios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Indicadores agregados: ocupação, horas no mês, projetos e distribuição por cargo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Consulta filtrada e exportação dos registros de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Autenticação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Login, logout, perfil próprio, cadastro de administrador e recuperação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dos cursos disponíveis e cadastro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8247888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Os 53 endpoints estão documentados de forma interativa em /swagger-ui.html e disponíveis como coleção Postman no repositório.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8 – Trecho de código: verbo, status e links HATEOAS</a:t>
            </a:r>
          </a:p>
        </p:txBody>
      </p:sp>
      <p:pic>
        <p:nvPicPr>
          <p:cNvPr id="7" name="Picture 6" descr="cod_contro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17520"/>
            <a:ext cx="10433304" cy="44905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63610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7.2 BOAS PRÁTICAS NO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controller por recurso, mapeado em /api/v1/&lt;recurso&gt;, com os verbos correspondendo às operações;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PUT para edição, substituindo o recurso inteiro, e PATCH só no perfil, onde a alteração é pontual; POST devolve 201 Created com o header Location do recurso criado;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DELETE devolve 204 No Content e faz exclusão lógica, preservando o histórico;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permissão não é decidida aqui: o controller chama o service, que devolve a entidade ou lança a exceção;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respostas de recurso individual carregam links HATEOAS de navegação.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9 – Trecho de código: busca com 404 e permissão no service</a:t>
            </a:r>
          </a:p>
        </p:txBody>
      </p:sp>
      <p:pic>
        <p:nvPicPr>
          <p:cNvPr id="7" name="Picture 6" descr="cod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7.3 REGRAS NA CAMADA DE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a busca que pode falhar vive no service: buscarOuFalhar lança a exceção de recurso inexistente, e nenhum controller checa null na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permissões são métodos nomeados do domínio — ver, editar e excluir têm regras distintas;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service recebe o usuário autenticado como parâmetro e decide; o controller apenas repassa;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o mesmo método é reaproveitado por vários endpoints, o que elimina a duplicação de regra que existia antes no controller.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10 – Trecho de código: exceções de domínio mapeadas para HTTP</a:t>
            </a:r>
          </a:p>
        </p:txBody>
      </p:sp>
      <p:pic>
        <p:nvPicPr>
          <p:cNvPr id="7" name="Picture 6" descr="cod_ex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7.4 TRATAMENTO DE ERROS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único @RestControllerAdvice concentra a tradução de exceção para status HTTP;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cada exceção de domínio tem um significado HTTP próprio: 404 para recurso inexistente, 403 para permissão negada, 409 para conflito de regra, 401 para credencial inválida e 429 para conta bloqueada;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corpo de erro é sempre o mesmo objeto, com a mensagem do domínio;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falhas de Bean Validation respondem em lista, com o campo e a mensagem de cada violação.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11 – Trecho de código: entidade Bolsista</a:t>
            </a:r>
          </a:p>
        </p:txBody>
      </p:sp>
      <p:pic>
        <p:nvPicPr>
          <p:cNvPr id="7" name="Picture 6" descr="cod_ent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61377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9146093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8.1 MAPEAMENTO JPA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@Entity e @Table por tabela, com chave primária em UUID gerada pelo banco;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Usuario é @MappedSuperclass: Bolsista e Professor herdam os atributos comuns, mas cada um tem a sua própria tabela — não há tabela de usuário;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relacionamento @ManyToOne com o laboratório é somente leitura (insertable e updatable falsos): enriquece a resposta sem abrir uma segunda via de escrita;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tabela associativa bolsista_projeto é mapeada como @ManyToMany: vincular um bolsista a um projeto é alterar uma coleção, e o JPA emite o INSERT ou o DELETE correspondente;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enums persistidos como texto com @Enumerated(EnumType.STRING), legíveis direto no banco.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12 – Trecho de código: repositório Spring Data JPA</a:t>
            </a:r>
          </a:p>
        </p:txBody>
      </p:sp>
      <p:pic>
        <p:nvPicPr>
          <p:cNvPr id="7" name="Picture 6" descr="cod_reposi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47194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278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8.2 REPOSITÓRIOS E MIGRATIONS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uma interface por entidade estendendo JpaRepository: nenhuma implementação é escrita à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consultas são derivadas do nome do método, inclusive as que navegam por associação — findByProjetos_Id percorre o relacionamento N:N sem uma linha de 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filtros opcionais (período, termo de busca, laboratório) usam Specification, a Criteria API do próprio JPA: cada predicado só entra no WHERE se o parâmetro tiver sido informado;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@Query ficou restrito ao repositório de relatórios, onde há agregação com GROUP BY;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a exclusão é um soft delete e o schema é versionado em 12 migrations do Flyway.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13 – Trecho de código: cadeia de filtros e sessão stateless</a:t>
            </a:r>
          </a:p>
        </p:txBody>
      </p:sp>
      <p:pic>
        <p:nvPicPr>
          <p:cNvPr id="7" name="Picture 6" descr="cod_seguran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5182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5266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9.1 AUTENTICAÇÃO E SESSÃO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sessão stateless: o servidor não guarda estado, e o usuário é reconstruído a cada requisição a partir do token;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o JWT viaja em cookie httpOnly — inacessível a JavaScript no navegador;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filtro roda antes da autenticação padrão do Spring Security e popula o contexto;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as rotas públicas são explícitas; o restante de /api/** exige token válido;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senhas com BCrypt e bloqueio temporário após cinco tentativas malsucedidas.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9.2 PERFIS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3 – Perfis de acesso e permissões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Papel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Permissões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Acesso irrestrito: todos os laboratórios, bolsistas, professores e projetos, relatórios globais, auditoria completa e cadastro de 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Gerencia os laboratórios que coordena, os projetos associados e os bolsistas vinculados a eles; consulta a 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Apontamento e edição da própria frequência, emissão do comprovante em PDF e visualização da equipe e dos projetos do seu laboratório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693407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CONTROLES APLICADOS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sem token, a requisição é recusada com 401; autenticado sem o papel exigido, 403;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rate limiting: cinco tentativas de login malsucedidas bloqueiam a conta por cinco minutos (429);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recuperação de senha por código numérico de seis dígitos, válido por quinze minutos;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permissão é verificada no service — a mesma regra vale para qualquer endpoint que a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10.1 TESTES AUTOMATIZADOS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4 – Testes automatizados por área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05840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6384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Área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Testes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Regras de negócio e permissões (services)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Controller de autenticação (MockMvc)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Utilitários de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Modelo e enums do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Segurança: rate limiting e reset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Tratamento de exceções da 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Contexto da aplicação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839712"/>
            <a:ext cx="100584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3127248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COMO A SUÍTE É ORGANIZADA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767328"/>
            <a:ext cx="55778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151 testes em 17 arquivos, executados sem banco de dados externo;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o peso está na camada de service, onde vivem as regras — cada permissão tem teste de concessão e de negação;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 controller é testado com MockMvc, verificando status e corpo da resposta;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suíte roda com um único comando (mvn test) e é o que sustenta cada refatoração do projeto.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10.2 CRITÉRIOS DE AVALIAÇÃO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6035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a) Boas práticas de REST no controller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um recurso por controller, verbos e status coerentes, 201 com Location, 204 no delete lógico e links HATEOAS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b) Regras na camada correta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permissões, busca com 404 e validações de domínio concentradas no service, com o controller reduzido a orquestração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c) Persistência com JPA e Spring Data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entidades mapeadas, herança por @MappedSuperclass, repositórios declarativos e schema versionado com Flyway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d) Documentação gerada do código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OpenAPI 3 e Swagger UI a partir das anotações, mais coleções Postman de fluxo e de casos negativos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e) Segurança concreta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sessão stateless com JWT em cookie httpOnly, BCrypt, rate limiting e três perfis com permissões efetivamente distintas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f) Erros com significado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exceções de domínio traduzidas para 400, 401, 403, 404, 409 e 429, com corpo de erro padronizado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g) Qualidade verificável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151 testes automatizados cobrindo a matriz de autorização e as regras de domínio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11.1 SWAGGER E COLEÇÕES POSTMAN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14 – Swagger UI: visão geral e os recursos após a divisão por tipo de usuário</a:t>
            </a:r>
          </a:p>
        </p:txBody>
      </p:sp>
      <p:pic>
        <p:nvPicPr>
          <p:cNvPr id="8" name="Picture 7" descr="swagger_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7680960" cy="5530291"/>
          </a:xfrm>
          <a:prstGeom prst="rect">
            <a:avLst/>
          </a:prstGeom>
        </p:spPr>
      </p:pic>
      <p:pic>
        <p:nvPicPr>
          <p:cNvPr id="9" name="Picture 8" descr="swagger_recurs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154680"/>
            <a:ext cx="7680960" cy="54091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883310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1897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A documentação é gerada do próprio código, então não desatualiza em relação à API real.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11.2 SUCESSO E CASOS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70048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15 – Respostas reais da API: criação bem-sucedida e exceções de domínio</a:t>
            </a:r>
          </a:p>
        </p:txBody>
      </p:sp>
      <p:pic>
        <p:nvPicPr>
          <p:cNvPr id="8" name="Picture 7" descr="http_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5760720" cy="4058107"/>
          </a:xfrm>
          <a:prstGeom prst="rect">
            <a:avLst/>
          </a:prstGeom>
        </p:spPr>
      </p:pic>
      <p:pic>
        <p:nvPicPr>
          <p:cNvPr id="9" name="Picture 8" descr="http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154680"/>
            <a:ext cx="10149840" cy="39313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777240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Cada exceção de domínio tem um status HTTP próprio e um corpo de erro padronizado; a Bean Validation responde em lista, com o campo que falhou.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235440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12  CONSIDERAÇÕES FINAIS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63769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entrega uma API REST completa para a gestão de bolsistas de pesquisa: as boas práticas de REST aparecem na camada de controller, as regras de negócio e as permissões ficam no service, a persistência usa JPA com Spring Data sobre um schema versionado, e a documentação é gerada do próprio código. São características pensadas para uso real — e não para atender a um requisito acadêmico isolado.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O QUE PODE SER IMPLEMENTADO FUTURAMENTE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577840"/>
            <a:ext cx="7863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a) notificações por e-mail para prazos de entregáveis dos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b) aplicativo mobile para apontamento de frequência em campo, consumindo esta mesma API;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c) assinatura digital dos comprovantes de frequência em PDF;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d) relatórios comparativos por período e por laboratório.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REPOSITÓRIO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557784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 branch main contém somente o backend; o frontend construído na disciplina anterior permanece arquivado na branch fullstack.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16376904" cy="6400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ASSOCIAÇÃO BRASILEIRA DE NORMAS TÉCNICAS.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NBR 6023: informação e documentação — referências — elaboração.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Rio de Janeiro: ABNT, 2018.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CHEN, P. P.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The entity-relationship model: toward a unified view of data.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ACM Transactions on Database Systems, New York, v. 1, n. 1, p. 9-36, mar. 1976.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FIELDING, R. 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Architectural styles and the design of network-based software architectures.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2000. Tese (Doutorado em Ciência da Computação) — University of California, Irvine, 2000.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RICHARDSON, L.; AMUNDSEN, M.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RESTful Web APIs.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Sebastopol: O'Reilly Media, 2013.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Boot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https://docs.spring.io/spring-boot/index.html.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Data JPA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https://docs.spring.io/spring-data/jpa/reference/index.html.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RED HAT.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Flyway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https://documentation.red-gate.com/flyway. Acesso em: 21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