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6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3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8288000" cy="10287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 /><Relationship Id="rId32" Type="http://schemas.openxmlformats.org/officeDocument/2006/relationships/tableStyles" Target="tableStyles.xml" /><Relationship Id="rId3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E950C-2640-12B5-E95D-938A88670D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95157B-0467-CE48-4EFD-0C5F3A5F1E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1050F4-27C6-02CB-2835-38567548AA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FBEA78-8F9A-F9F1-9B63-7B4FE221CA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30C5EE-9A47-7987-B99F-596C047122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51536-644E-534B-C7C6-631CE81325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2C2C56-3168-9023-90B3-0769AD147C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CA6BF5-BB19-899A-6F47-7A4B336735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5C7C11-E393-E5FB-F7B5-42E94A7B7A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890E89-1292-F1A9-C162-AC264AA994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191F16-8D2B-A26B-3F4C-8C888C14F4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362116-3538-7797-623B-85161DA31A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7226C1-E142-2AF2-90EB-C14EB6183B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CF5BA9-A245-1616-76C7-6B686E889D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CDF163-E0DD-B3FB-E792-2C34063BD9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7F7C27-2FFB-BE3A-6D98-8D9D3D5980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E0766-8F67-BA9A-3BC9-F5853764D6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B72C92-DBE3-2CD9-0842-45033EF6C5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877169-5BF7-2349-B139-9EADA9431C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F7A5EB-088E-77EB-6301-8DA845651C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7BC61C-E9C3-5E10-86B7-639F4A739B2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8B6EEC-907F-57E0-E658-18D513431F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897E5-8CD1-7B11-9095-8B1F1B22B1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73FA3F-2543-D88E-BFD2-AA9188A1E8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D82BB8-63D4-E5D1-5AFC-513DC05F7BE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F819E3-1E1C-5536-BE79-A58DB0C3C6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36414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570266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378372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888594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48018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34435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292740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0126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621479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28561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211259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902901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44914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078017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18706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9356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841081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377948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14215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128729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1686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782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33976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38766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162274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857912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1515820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2867973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020033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6354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549232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2709678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69322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32701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5804045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347692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680870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37718835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51663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15996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479188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052492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28509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282818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209520811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875739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326036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60086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1414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7389776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44309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818450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59387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33573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9260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8105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528237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66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93999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34474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378668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9894084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411849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044520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059168" y="237744"/>
            <a:ext cx="4160519" cy="631430"/>
          </a:xfrm>
          <a:prstGeom prst="rect">
            <a:avLst/>
          </a:prstGeom>
        </p:spPr>
      </p:pic>
      <p:sp>
        <p:nvSpPr>
          <p:cNvPr id="711792281" name="TextBox 2"/>
          <p:cNvSpPr txBox="1"/>
          <p:nvPr/>
        </p:nvSpPr>
        <p:spPr bwMode="auto">
          <a:xfrm>
            <a:off x="2148840" y="832104"/>
            <a:ext cx="13953744" cy="2002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  <a:defRPr/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UNIVERSIDADE FEDERAL DE SANTA MARIA</a:t>
            </a:r>
            <a:endParaRPr/>
          </a:p>
          <a:p>
            <a:pPr algn="ctr">
              <a:lnSpc>
                <a:spcPct val="135000"/>
              </a:lnSpc>
              <a:spcBef>
                <a:spcPts val="0"/>
              </a:spcBef>
              <a:defRPr/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COLÉGIO POLITÉCNICO DA UFSM</a:t>
            </a:r>
            <a:endParaRPr/>
          </a:p>
          <a:p>
            <a:pPr algn="ctr">
              <a:lnSpc>
                <a:spcPct val="135000"/>
              </a:lnSpc>
              <a:spcBef>
                <a:spcPts val="0"/>
              </a:spcBef>
              <a:defRPr/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CURSO SUPERIOR DE TECNOLOGIA EM SISTEMAS PARA INTERNET</a:t>
            </a:r>
            <a:endParaRPr/>
          </a:p>
        </p:txBody>
      </p:sp>
      <p:sp>
        <p:nvSpPr>
          <p:cNvPr id="39437396" name="TextBox 3"/>
          <p:cNvSpPr txBox="1"/>
          <p:nvPr/>
        </p:nvSpPr>
        <p:spPr bwMode="auto">
          <a:xfrm>
            <a:off x="2176272" y="3136392"/>
            <a:ext cx="13953744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MATHEUS GABRIEL FLECK DE MELLO</a:t>
            </a:r>
            <a:endParaRPr/>
          </a:p>
        </p:txBody>
      </p:sp>
      <p:sp>
        <p:nvSpPr>
          <p:cNvPr id="2042575466" name="TextBox 4"/>
          <p:cNvSpPr txBox="1"/>
          <p:nvPr/>
        </p:nvSpPr>
        <p:spPr bwMode="auto">
          <a:xfrm>
            <a:off x="2148840" y="4297680"/>
            <a:ext cx="1395374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3900" b="1" i="0">
                <a:solidFill>
                  <a:srgbClr val="000000"/>
                </a:solidFill>
                <a:latin typeface="Times New Roman"/>
              </a:rPr>
              <a:t>SISBOLSA — API REST DE GESTÃO DE BOLSISTAS E LABORATÓRIOS</a:t>
            </a:r>
            <a:endParaRPr/>
          </a:p>
        </p:txBody>
      </p:sp>
      <p:sp>
        <p:nvSpPr>
          <p:cNvPr id="303710056" name="TextBox 5"/>
          <p:cNvSpPr txBox="1"/>
          <p:nvPr/>
        </p:nvSpPr>
        <p:spPr bwMode="auto">
          <a:xfrm>
            <a:off x="9061704" y="5897880"/>
            <a:ext cx="8202168" cy="12161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30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Apresentação referente à disciplina de Programação Orientada a Objetos para Web II, do Curso Superior de Tecnologia em Sistemas para Internet, da Universidade Federal de Santa Maria, cursada em regime de autodidatismo.</a:t>
            </a:r>
            <a:endParaRPr/>
          </a:p>
        </p:txBody>
      </p:sp>
      <p:sp>
        <p:nvSpPr>
          <p:cNvPr id="887399924" name="TextBox 6"/>
          <p:cNvSpPr txBox="1"/>
          <p:nvPr/>
        </p:nvSpPr>
        <p:spPr bwMode="auto">
          <a:xfrm>
            <a:off x="2148840" y="8951976"/>
            <a:ext cx="13953744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Santa Maria, RS</a:t>
            </a:r>
            <a:endParaRPr/>
          </a:p>
          <a:p>
            <a:pPr algn="ctr">
              <a:lnSpc>
                <a:spcPct val="120000"/>
              </a:lnSpc>
              <a:spcBef>
                <a:spcPts val="0"/>
              </a:spcBef>
              <a:defRPr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6980051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550967796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</a:t>
            </a:r>
            <a:endParaRPr/>
          </a:p>
        </p:txBody>
      </p:sp>
      <p:sp>
        <p:nvSpPr>
          <p:cNvPr id="2073481623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  CONTEXTO E ORIGINALIDADE</a:t>
            </a:r>
            <a:endParaRPr/>
          </a:p>
        </p:txBody>
      </p:sp>
      <p:sp>
        <p:nvSpPr>
          <p:cNvPr id="284576331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1047922" name="TextBox 5"/>
          <p:cNvSpPr txBox="1"/>
          <p:nvPr/>
        </p:nvSpPr>
        <p:spPr bwMode="auto">
          <a:xfrm>
            <a:off x="960120" y="2240280"/>
            <a:ext cx="1637690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é uma API REST autoral para a gestão de bolsistas de pesquisa de uma instituição: cadastro de professores, laboratórios, projetos e bolsistas, controle de frequência com emissão de comprovante em PDF, relatórios agregados e trilha de auditoria. O projeto nasceu na disciplina de Programação Orientada a Objetos para Web I e, nesta disciplina, foi reescrito com foco total no backend — a camada de apresentação saiu do escopo e o repositório passou a expor somente a API.</a:t>
            </a:r>
            <a:endParaRPr/>
          </a:p>
        </p:txBody>
      </p:sp>
      <p:sp>
        <p:nvSpPr>
          <p:cNvPr id="35888848" name="TextBox 6"/>
          <p:cNvSpPr txBox="1"/>
          <p:nvPr/>
        </p:nvSpPr>
        <p:spPr bwMode="auto">
          <a:xfrm>
            <a:off x="960120" y="4526280"/>
            <a:ext cx="16376904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Superfície da API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9 controllers REST e 53 endpoints sob /api/v1, um controller por recurso</a:t>
            </a:r>
            <a:endParaRPr/>
          </a:p>
          <a:p>
            <a:pPr algn="just">
              <a:lnSpc>
                <a:spcPct val="125000"/>
              </a:lnSpc>
              <a:spcBef>
                <a:spcPts val="12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Qualidade verificável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151 testes automatizados, sem dependência de banco externo</a:t>
            </a:r>
            <a:endParaRPr/>
          </a:p>
          <a:p>
            <a:pPr algn="just">
              <a:lnSpc>
                <a:spcPct val="125000"/>
              </a:lnSpc>
              <a:spcBef>
                <a:spcPts val="12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Documentação viva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OpenAPI 3 / Swagger UI gerados a partir das próprias anotações do código</a:t>
            </a:r>
            <a:endParaRPr/>
          </a:p>
          <a:p>
            <a:pPr algn="just">
              <a:lnSpc>
                <a:spcPct val="125000"/>
              </a:lnSpc>
              <a:spcBef>
                <a:spcPts val="12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Implantação reproduzível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Docker Compose sobe banco e API com migrations e massa de demonstração</a:t>
            </a:r>
            <a:endParaRPr/>
          </a:p>
        </p:txBody>
      </p:sp>
      <p:sp>
        <p:nvSpPr>
          <p:cNvPr id="1388649160" name="TextBox 7"/>
          <p:cNvSpPr txBox="1"/>
          <p:nvPr/>
        </p:nvSpPr>
        <p:spPr bwMode="auto">
          <a:xfrm>
            <a:off x="960120" y="7406640"/>
            <a:ext cx="16376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Repositório do sistema: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0491464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565549194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3</a:t>
            </a:r>
            <a:endParaRPr/>
          </a:p>
        </p:txBody>
      </p:sp>
      <p:sp>
        <p:nvSpPr>
          <p:cNvPr id="1936639620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2  MOTIVAÇÃO</a:t>
            </a:r>
            <a:endParaRPr/>
          </a:p>
        </p:txBody>
      </p:sp>
      <p:sp>
        <p:nvSpPr>
          <p:cNvPr id="151821352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5428898" name="TextBox 5"/>
          <p:cNvSpPr txBox="1"/>
          <p:nvPr/>
        </p:nvSpPr>
        <p:spPr bwMode="auto">
          <a:xfrm>
            <a:off x="960120" y="2103120"/>
            <a:ext cx="6035039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 – Formulário de registro de frequência do CTISM</a:t>
            </a:r>
            <a:endParaRPr/>
          </a:p>
        </p:txBody>
      </p:sp>
      <p:pic>
        <p:nvPicPr>
          <p:cNvPr id="1822418656" name="Picture 6" descr="frequencia_papel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34640"/>
            <a:ext cx="6035039" cy="6289325"/>
          </a:xfrm>
          <a:prstGeom prst="rect">
            <a:avLst/>
          </a:prstGeom>
        </p:spPr>
      </p:pic>
      <p:sp>
        <p:nvSpPr>
          <p:cNvPr id="349751195" name="TextBox 7"/>
          <p:cNvSpPr txBox="1"/>
          <p:nvPr/>
        </p:nvSpPr>
        <p:spPr bwMode="auto">
          <a:xfrm>
            <a:off x="960120" y="9251981"/>
            <a:ext cx="6035039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Acervo do autor (2026).</a:t>
            </a:r>
            <a:endParaRPr/>
          </a:p>
        </p:txBody>
      </p:sp>
      <p:sp>
        <p:nvSpPr>
          <p:cNvPr id="1865747544" name="TextBox 8"/>
          <p:cNvSpPr txBox="1"/>
          <p:nvPr/>
        </p:nvSpPr>
        <p:spPr bwMode="auto">
          <a:xfrm>
            <a:off x="7699248" y="2212848"/>
            <a:ext cx="963777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projeto nasceu da experiência com a minha própria bolsa no setor de realidade virtual e inteligência artificial do CTISM. O controle de frequência era o formulário ao lado: data, entrada, saída, horas e atividade preenchidos à mão, com espaço para a rubrica do monitor e do preceptor — depois digitalizado e enviado por e-mail.</a:t>
            </a:r>
            <a:endParaRPr/>
          </a:p>
        </p:txBody>
      </p:sp>
      <p:sp>
        <p:nvSpPr>
          <p:cNvPr id="347162852" name="TextBox 9"/>
          <p:cNvSpPr txBox="1"/>
          <p:nvPr/>
        </p:nvSpPr>
        <p:spPr bwMode="auto">
          <a:xfrm>
            <a:off x="7699248" y="4370832"/>
            <a:ext cx="9637776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Registro manual e sem validação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nada impede hora sobreposta, data inválida ou total de horas que não fecha com o período da bolsa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Sem rastreabilidade das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 papel não gera comprovante verificável nem trilha auditável do que foi alterado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Controle disperso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 professor e laboratório mantém os próprios arquivos, sem consolidação institucional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Ocupação dos laboratórios invisível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não havia como saber, em tempo real, quantas vagas restam em cada laboratório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45308079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532255033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4</a:t>
            </a:r>
            <a:endParaRPr/>
          </a:p>
        </p:txBody>
      </p:sp>
      <p:sp>
        <p:nvSpPr>
          <p:cNvPr id="999403593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3  OBJETIVOS</a:t>
            </a:r>
            <a:endParaRPr/>
          </a:p>
        </p:txBody>
      </p:sp>
      <p:sp>
        <p:nvSpPr>
          <p:cNvPr id="278077249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3402376" name="TextBox 5"/>
          <p:cNvSpPr txBox="1"/>
          <p:nvPr/>
        </p:nvSpPr>
        <p:spPr bwMode="auto"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3.1 OBJETIVO GERAL</a:t>
            </a:r>
            <a:endParaRPr/>
          </a:p>
        </p:txBody>
      </p:sp>
      <p:sp>
        <p:nvSpPr>
          <p:cNvPr id="1536149142" name="TextBox 6"/>
          <p:cNvSpPr txBox="1"/>
          <p:nvPr/>
        </p:nvSpPr>
        <p:spPr bwMode="auto">
          <a:xfrm>
            <a:off x="960120" y="2788920"/>
            <a:ext cx="77724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250" b="0" i="0">
                <a:solidFill>
                  <a:srgbClr val="000000"/>
                </a:solidFill>
                <a:latin typeface="Times New Roman"/>
              </a:rPr>
              <a:t>Desenvolver uma API REST completa para a gestão de bolsistas de pesquisa, cobrindo o cadastro de professores, laboratórios e projetos, o vínculo de bolsistas, o controle de frequência com emissão de comprovante em PDF, a geração de relatórios e exportações em CSV e uma trilha de auditoria completa, com controle de acesso por perfil.</a:t>
            </a:r>
            <a:endParaRPr/>
          </a:p>
        </p:txBody>
      </p:sp>
      <p:sp>
        <p:nvSpPr>
          <p:cNvPr id="2079593718" name="TextBox 7"/>
          <p:cNvSpPr txBox="1"/>
          <p:nvPr/>
        </p:nvSpPr>
        <p:spPr bwMode="auto">
          <a:xfrm>
            <a:off x="9564624" y="2103120"/>
            <a:ext cx="7644383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3.2 OBJETIVOS ESPECÍFICOS</a:t>
            </a:r>
            <a:endParaRPr/>
          </a:p>
        </p:txBody>
      </p:sp>
      <p:sp>
        <p:nvSpPr>
          <p:cNvPr id="389983017" name="TextBox 8"/>
          <p:cNvSpPr txBox="1"/>
          <p:nvPr/>
        </p:nvSpPr>
        <p:spPr bwMode="auto">
          <a:xfrm>
            <a:off x="9564624" y="2798064"/>
            <a:ext cx="7680960" cy="5852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Seguir as boas práticas de REST na camada de controller: um recurso por controller, semântica correta de verbos e códigos HTTP, 201 Created com header Location e links HATEOAS</a:t>
            </a:r>
            <a:endParaRPr/>
          </a:p>
          <a:p>
            <a:pPr algn="just">
              <a:lnSpc>
                <a:spcPct val="120000"/>
              </a:lnSpc>
              <a:spcBef>
                <a:spcPts val="11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Concentrar as regras de negócio e as permissões na camada de service, mantendo o controller restrito a receber a requisição e montar a resposta</a:t>
            </a:r>
            <a:endParaRPr/>
          </a:p>
          <a:p>
            <a:pPr algn="just">
              <a:lnSpc>
                <a:spcPct val="120000"/>
              </a:lnSpc>
              <a:spcBef>
                <a:spcPts val="11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Modelar e persistir o domínio com Spring Data JPA/Hibernate sobre PostgreSQL, com o schema versionado por migrations do Flyway</a:t>
            </a:r>
            <a:endParaRPr/>
          </a:p>
          <a:p>
            <a:pPr algn="just">
              <a:lnSpc>
                <a:spcPct val="120000"/>
              </a:lnSpc>
              <a:spcBef>
                <a:spcPts val="11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Implementar autenticação stateless com JWT em cookie httpOnly, BCrypt e rate limiting anti-força-bruta, com autorização por papel de acesso</a:t>
            </a:r>
            <a:endParaRPr/>
          </a:p>
          <a:p>
            <a:pPr algn="just">
              <a:lnSpc>
                <a:spcPct val="120000"/>
              </a:lnSpc>
              <a:spcBef>
                <a:spcPts val="11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e) Validar a entrada com Bean Validation e traduzir as exceções de domínio para os status HTTP correspondentes, com corpo de erro padronizado</a:t>
            </a:r>
            <a:endParaRPr/>
          </a:p>
          <a:p>
            <a:pPr algn="just">
              <a:lnSpc>
                <a:spcPct val="120000"/>
              </a:lnSpc>
              <a:spcBef>
                <a:spcPts val="11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f) Documentar a coleção de endpoints com OpenAPI 3 / Swagger, gerada a partir do próprio código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05413635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522646928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5</a:t>
            </a:r>
            <a:endParaRPr/>
          </a:p>
        </p:txBody>
      </p:sp>
      <p:sp>
        <p:nvSpPr>
          <p:cNvPr id="823080245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  <a:endParaRPr/>
          </a:p>
        </p:txBody>
      </p:sp>
      <p:sp>
        <p:nvSpPr>
          <p:cNvPr id="709052479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6232647" name="TextBox 5"/>
          <p:cNvSpPr txBox="1"/>
          <p:nvPr/>
        </p:nvSpPr>
        <p:spPr bwMode="auto"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4.1 DIAGRAMA DE CLASSES</a:t>
            </a:r>
            <a:endParaRPr/>
          </a:p>
        </p:txBody>
      </p:sp>
      <p:sp>
        <p:nvSpPr>
          <p:cNvPr id="1786792304" name="TextBox 6"/>
          <p:cNvSpPr txBox="1"/>
          <p:nvPr/>
        </p:nvSpPr>
        <p:spPr bwMode="auto">
          <a:xfrm>
            <a:off x="960120" y="27432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Usuario é uma classe abstrata anotada com @MappedSuperclass: concentra os atributos comuns (id, nome, e-mail, senha, tipo de usuário) sem virar tabela própria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Bolsista e Professor herdam dela e são entidades concretas, cada uma com a sua tabela e a sua chave primária em UUID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Bolsista concentra os vínculos: laboratório de lotação, projetos (N:N) e os apontamentos de frequência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Cargo e ModalidadeBolsa são enums persistidos como texto; Auditoria registra as ações relevantes de qualquer perfil</a:t>
            </a:r>
            <a:endParaRPr/>
          </a:p>
        </p:txBody>
      </p:sp>
      <p:sp>
        <p:nvSpPr>
          <p:cNvPr id="789782950" name="TextBox 7"/>
          <p:cNvSpPr txBox="1"/>
          <p:nvPr/>
        </p:nvSpPr>
        <p:spPr bwMode="auto">
          <a:xfrm>
            <a:off x="6766560" y="2121408"/>
            <a:ext cx="105613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2 – Diagrama de classes do domínio</a:t>
            </a:r>
            <a:endParaRPr/>
          </a:p>
        </p:txBody>
      </p:sp>
      <p:pic>
        <p:nvPicPr>
          <p:cNvPr id="318378248" name="Picture 8" descr="classes_p1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040880" y="2670048"/>
            <a:ext cx="5869858" cy="6035039"/>
          </a:xfrm>
          <a:prstGeom prst="rect">
            <a:avLst/>
          </a:prstGeom>
        </p:spPr>
      </p:pic>
      <p:pic>
        <p:nvPicPr>
          <p:cNvPr id="694317468" name="Picture 9" descr="classes_p2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2435840" y="2670048"/>
            <a:ext cx="5619338" cy="6035039"/>
          </a:xfrm>
          <a:prstGeom prst="rect">
            <a:avLst/>
          </a:prstGeom>
        </p:spPr>
      </p:pic>
      <p:sp>
        <p:nvSpPr>
          <p:cNvPr id="1286118521" name="TextBox 10"/>
          <p:cNvSpPr txBox="1"/>
          <p:nvPr/>
        </p:nvSpPr>
        <p:spPr bwMode="auto">
          <a:xfrm>
            <a:off x="6766560" y="879652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1 de 2</a:t>
            </a:r>
            <a:endParaRPr/>
          </a:p>
        </p:txBody>
      </p:sp>
      <p:sp>
        <p:nvSpPr>
          <p:cNvPr id="663532328" name="TextBox 11"/>
          <p:cNvSpPr txBox="1"/>
          <p:nvPr/>
        </p:nvSpPr>
        <p:spPr bwMode="auto">
          <a:xfrm>
            <a:off x="12161520" y="879652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2 de 2</a:t>
            </a:r>
            <a:endParaRPr/>
          </a:p>
        </p:txBody>
      </p:sp>
      <p:sp>
        <p:nvSpPr>
          <p:cNvPr id="1509760981" name="TextBox 12"/>
          <p:cNvSpPr txBox="1"/>
          <p:nvPr/>
        </p:nvSpPr>
        <p:spPr bwMode="auto">
          <a:xfrm>
            <a:off x="6766560" y="9098280"/>
            <a:ext cx="1056132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590879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691781432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6</a:t>
            </a:r>
            <a:endParaRPr/>
          </a:p>
        </p:txBody>
      </p:sp>
      <p:sp>
        <p:nvSpPr>
          <p:cNvPr id="1908768961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  <a:endParaRPr/>
          </a:p>
        </p:txBody>
      </p:sp>
      <p:sp>
        <p:nvSpPr>
          <p:cNvPr id="819328228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219929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3 – Modelo conceitual (MER)</a:t>
            </a:r>
            <a:endParaRPr/>
          </a:p>
        </p:txBody>
      </p:sp>
      <p:pic>
        <p:nvPicPr>
          <p:cNvPr id="8418265" name="Picture 6" descr="mer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697480"/>
            <a:ext cx="10433304" cy="4879038"/>
          </a:xfrm>
          <a:prstGeom prst="rect">
            <a:avLst/>
          </a:prstGeom>
        </p:spPr>
      </p:pic>
      <p:sp>
        <p:nvSpPr>
          <p:cNvPr id="1333119288" name="TextBox 7"/>
          <p:cNvSpPr txBox="1"/>
          <p:nvPr/>
        </p:nvSpPr>
        <p:spPr bwMode="auto">
          <a:xfrm>
            <a:off x="960120" y="7704535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845934878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4.2 MODELO CONCEITUAL</a:t>
            </a:r>
            <a:endParaRPr/>
          </a:p>
        </p:txBody>
      </p:sp>
      <p:sp>
        <p:nvSpPr>
          <p:cNvPr id="522626992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recorte do domínio na notação de Chen (1976), com seis entidades principais;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um professor coordena laboratórios e orienta projetos;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bolsistas são alocados a um laboratório e vinculados a projetos em relação N:N, materializada pela tabela associativa;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cada apontamento de frequência pertence a um bolsista, e toda ação relevante do sistema gera um registro de auditoria.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210447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415193275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7</a:t>
            </a:r>
            <a:endParaRPr/>
          </a:p>
        </p:txBody>
      </p:sp>
      <p:sp>
        <p:nvSpPr>
          <p:cNvPr id="1347662595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  <a:endParaRPr/>
          </a:p>
        </p:txBody>
      </p:sp>
      <p:sp>
        <p:nvSpPr>
          <p:cNvPr id="1845822940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0857840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4 – Modelo lógico (DER)</a:t>
            </a:r>
            <a:endParaRPr/>
          </a:p>
        </p:txBody>
      </p:sp>
      <p:pic>
        <p:nvPicPr>
          <p:cNvPr id="576161344" name="Picture 6" descr="der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697480"/>
            <a:ext cx="10433304" cy="5820042"/>
          </a:xfrm>
          <a:prstGeom prst="rect">
            <a:avLst/>
          </a:prstGeom>
        </p:spPr>
      </p:pic>
      <p:sp>
        <p:nvSpPr>
          <p:cNvPr id="89045293" name="TextBox 7"/>
          <p:cNvSpPr txBox="1"/>
          <p:nvPr/>
        </p:nvSpPr>
        <p:spPr bwMode="auto">
          <a:xfrm>
            <a:off x="960120" y="8645538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65868497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4.3 MODELO LÓGICO</a:t>
            </a:r>
            <a:endParaRPr/>
          </a:p>
        </p:txBody>
      </p:sp>
      <p:sp>
        <p:nvSpPr>
          <p:cNvPr id="11748970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esquema relacional derivado das migrations do Flyway;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chave primária em UUID gerada pelo próprio banco em todas as tabelas;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tabela associativa bolsista_projeto para a relação N:N entre bolsista e projeto;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exclusão lógica por campo ativo: nenhum registro é removido fisicamente, preservando o histórico de frequência e de vínculos.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0207683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436431560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8</a:t>
            </a:r>
            <a:endParaRPr/>
          </a:p>
        </p:txBody>
      </p:sp>
      <p:sp>
        <p:nvSpPr>
          <p:cNvPr id="1482894940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  <a:endParaRPr/>
          </a:p>
        </p:txBody>
      </p:sp>
      <p:sp>
        <p:nvSpPr>
          <p:cNvPr id="1248225336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3422192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5 – Visão geral da arquitetura</a:t>
            </a:r>
            <a:endParaRPr/>
          </a:p>
        </p:txBody>
      </p:sp>
      <p:pic>
        <p:nvPicPr>
          <p:cNvPr id="1912140688" name="Picture 6" descr="diag_arquitetura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291840"/>
            <a:ext cx="10433304" cy="2173605"/>
          </a:xfrm>
          <a:prstGeom prst="rect">
            <a:avLst/>
          </a:prstGeom>
        </p:spPr>
      </p:pic>
      <p:sp>
        <p:nvSpPr>
          <p:cNvPr id="23662558" name="TextBox 7"/>
          <p:cNvSpPr txBox="1"/>
          <p:nvPr/>
        </p:nvSpPr>
        <p:spPr bwMode="auto">
          <a:xfrm>
            <a:off x="960120" y="5593461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787073546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5.1 VISÃO GERAL</a:t>
            </a:r>
            <a:endParaRPr/>
          </a:p>
        </p:txBody>
      </p:sp>
      <p:sp>
        <p:nvSpPr>
          <p:cNvPr id="61805044" name="TextBox 9"/>
          <p:cNvSpPr txBox="1"/>
          <p:nvPr/>
        </p:nvSpPr>
        <p:spPr bwMode="auto">
          <a:xfrm>
            <a:off x="11740896" y="2807207"/>
            <a:ext cx="5623920" cy="4605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a API é o único ponto de entrada: fala JSON sobre HTTP e não pressupõe um frontend específico;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a sessão é stateless — o usuário é reconstruído a cada requisição a partir do JWT guardado em cookie httpOnly;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a requisição atravessa controller, service e repository, nessa ordem, até o PostgreSQL;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o ambiente sobe inteiro com Docker Compose: banco e API, com as migrations do Flyway e a massa de demonstração aplicadas automaticamente.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87787483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162617638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9</a:t>
            </a:r>
            <a:endParaRPr/>
          </a:p>
        </p:txBody>
      </p:sp>
      <p:sp>
        <p:nvSpPr>
          <p:cNvPr id="528672430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  <a:endParaRPr/>
          </a:p>
        </p:txBody>
      </p:sp>
      <p:sp>
        <p:nvSpPr>
          <p:cNvPr id="1211381738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2482736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5.2 CAMADAS DA APLICAÇÃO</a:t>
            </a:r>
            <a:endParaRPr/>
          </a:p>
        </p:txBody>
      </p:sp>
      <p:sp>
        <p:nvSpPr>
          <p:cNvPr id="1805675820" name="TextBox 6"/>
          <p:cNvSpPr txBox="1"/>
          <p:nvPr/>
        </p:nvSpPr>
        <p:spPr bwMode="auto">
          <a:xfrm>
            <a:off x="960120" y="2788920"/>
            <a:ext cx="163769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6 – Camadas da aplicação e pacotes correspondentes</a:t>
            </a:r>
            <a:endParaRPr/>
          </a:p>
        </p:txBody>
      </p:sp>
      <p:pic>
        <p:nvPicPr>
          <p:cNvPr id="712543551" name="Picture 7" descr="diag_camadas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337560"/>
            <a:ext cx="16376904" cy="4378092"/>
          </a:xfrm>
          <a:prstGeom prst="rect">
            <a:avLst/>
          </a:prstGeom>
        </p:spPr>
      </p:pic>
      <p:sp>
        <p:nvSpPr>
          <p:cNvPr id="1293631254" name="TextBox 8"/>
          <p:cNvSpPr txBox="1"/>
          <p:nvPr/>
        </p:nvSpPr>
        <p:spPr bwMode="auto">
          <a:xfrm>
            <a:off x="960120" y="7880244"/>
            <a:ext cx="163769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96675119" name="TextBox 9"/>
          <p:cNvSpPr txBox="1"/>
          <p:nvPr/>
        </p:nvSpPr>
        <p:spPr bwMode="auto">
          <a:xfrm>
            <a:off x="960120" y="9052560"/>
            <a:ext cx="163769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Cada camada só conhece a camada imediatamente abaixo. O controller não contém regra de negócio: a decisão de quem pode o quê, a busca que resulta em 404 e as validações de domínio vivem no service.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6989839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557657304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10</a:t>
            </a:r>
            <a:endParaRPr/>
          </a:p>
        </p:txBody>
      </p:sp>
      <p:sp>
        <p:nvSpPr>
          <p:cNvPr id="1036207444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  <a:endParaRPr/>
          </a:p>
        </p:txBody>
      </p:sp>
      <p:sp>
        <p:nvSpPr>
          <p:cNvPr id="804672996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0328040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5.3 ORGANIZAÇÃO DO CÓDIGO</a:t>
            </a:r>
            <a:endParaRPr/>
          </a:p>
        </p:txBody>
      </p:sp>
      <p:sp>
        <p:nvSpPr>
          <p:cNvPr id="1874348685" name="TextBox 6"/>
          <p:cNvSpPr txBox="1"/>
          <p:nvPr/>
        </p:nvSpPr>
        <p:spPr bwMode="auto">
          <a:xfrm>
            <a:off x="960120" y="2724911"/>
            <a:ext cx="11521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7 – Estrutura de pacotes do projeto</a:t>
            </a:r>
            <a:endParaRPr/>
          </a:p>
        </p:txBody>
      </p:sp>
      <p:pic>
        <p:nvPicPr>
          <p:cNvPr id="479713798" name="Picture 7" descr="diag_estrutura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246120"/>
            <a:ext cx="11521440" cy="4119787"/>
          </a:xfrm>
          <a:prstGeom prst="rect">
            <a:avLst/>
          </a:prstGeom>
        </p:spPr>
      </p:pic>
      <p:sp>
        <p:nvSpPr>
          <p:cNvPr id="1210316133" name="TextBox 8"/>
          <p:cNvSpPr txBox="1"/>
          <p:nvPr/>
        </p:nvSpPr>
        <p:spPr bwMode="auto">
          <a:xfrm>
            <a:off x="960120" y="7512211"/>
            <a:ext cx="1152144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842830016" name="TextBox 9"/>
          <p:cNvSpPr txBox="1"/>
          <p:nvPr/>
        </p:nvSpPr>
        <p:spPr bwMode="auto">
          <a:xfrm>
            <a:off x="12984480" y="2743200"/>
            <a:ext cx="438912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LEITURA DA ESTRUTURA</a:t>
            </a:r>
            <a:endParaRPr/>
          </a:p>
        </p:txBody>
      </p:sp>
      <p:sp>
        <p:nvSpPr>
          <p:cNvPr id="1761203617" name="TextBox 10"/>
          <p:cNvSpPr txBox="1"/>
          <p:nvPr/>
        </p:nvSpPr>
        <p:spPr bwMode="auto">
          <a:xfrm>
            <a:off x="12984480" y="3401568"/>
            <a:ext cx="443484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um pacote por responsabilidade, espelhando as camadas;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dto/ é o maior pacote (20 arquivos) porque cada recurso tem contratos próprios de entrada e saída, isolando a API das entidades;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os testes espelham a estrutura de main, concentrados na camada de service — onde estão as regras;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as migrations versionam o schema: subir o projeto do zero reproduz o banco inteiro.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57078712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162316758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11</a:t>
            </a:r>
            <a:endParaRPr/>
          </a:p>
        </p:txBody>
      </p:sp>
      <p:sp>
        <p:nvSpPr>
          <p:cNvPr id="2083354002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  <a:endParaRPr/>
          </a:p>
        </p:txBody>
      </p:sp>
      <p:sp>
        <p:nvSpPr>
          <p:cNvPr id="136773719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1437027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5.4 TECNOLOGIAS UTILIZADAS</a:t>
            </a:r>
            <a:endParaRPr/>
          </a:p>
        </p:txBody>
      </p:sp>
      <p:sp>
        <p:nvSpPr>
          <p:cNvPr id="1377632736" name="TextBox 6"/>
          <p:cNvSpPr txBox="1"/>
          <p:nvPr/>
        </p:nvSpPr>
        <p:spPr bwMode="auto">
          <a:xfrm>
            <a:off x="960120" y="2724911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1 – Tecnologias do projeto e sua função</a:t>
            </a:r>
            <a:endParaRPr/>
          </a:p>
        </p:txBody>
      </p:sp>
      <p:graphicFrame>
        <p:nvGraphicFramePr>
          <p:cNvPr id="2017424285" name="Table 7"/>
          <p:cNvGraphicFramePr>
            <a:graphicFrameLocks xmlns:a="http://schemas.openxmlformats.org/drawingml/2006/main" noGrp="1"/>
          </p:cNvGraphicFramePr>
          <p:nvPr/>
        </p:nvGraphicFramePr>
        <p:xfrm rot="0">
          <a:off x="960120" y="3090672"/>
          <a:ext cx="10789920" cy="4032504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{5C22544A-7EE6-4342-B048-85BDC9FD1C3A}</a:tableStyleId>
              </a:tblPr>
              <a:tblGrid>
                <a:gridCol w="3657600"/>
                <a:gridCol w="7132320"/>
              </a:tblGrid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Tecnologia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Função no projeto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Boot 4.0.6 / Java 21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Base da aplicação e injeção de dependências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Web MVC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Camada REST: mapeamento de rotas, verbos e status HTTP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Data JPA / Hibernate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Persistência, repositórios e mapeamento objeto-relacional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PostgreSQL 15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Banco de dados relacional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Flyway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Versionamento do schema por migrations numeradas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Security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Autorização por papel e cadeia de filtros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JJWT + BCrypt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Emissão e leitura do token JWT e hash das senhas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Bean Validation (Jakarta)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Validação declarativa dos DTOs de entrada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springdoc-openapi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do OpenAPI 3 e da interface Swagger UI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HATEOAS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Links de navegação nas respostas de recurso individual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OpenPDF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nativa do comprovante de frequência em PDF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JUnit 5 + Mockito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Testes unitários e de controller com MockMvc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Docker Compose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Subida do ambiente completo (banco e API)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4588286" name="TextBox 8"/>
          <p:cNvSpPr txBox="1"/>
          <p:nvPr/>
        </p:nvSpPr>
        <p:spPr bwMode="auto">
          <a:xfrm>
            <a:off x="960120" y="7232904"/>
            <a:ext cx="1078992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76069484" name="TextBox 9"/>
          <p:cNvSpPr txBox="1"/>
          <p:nvPr/>
        </p:nvSpPr>
        <p:spPr bwMode="auto"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STACK EM UMA LINHA</a:t>
            </a:r>
            <a:endParaRPr/>
          </a:p>
        </p:txBody>
      </p:sp>
      <p:sp>
        <p:nvSpPr>
          <p:cNvPr id="26412608" name="TextBox 10"/>
          <p:cNvSpPr txBox="1"/>
          <p:nvPr/>
        </p:nvSpPr>
        <p:spPr bwMode="auto">
          <a:xfrm>
            <a:off x="12435840" y="3767328"/>
            <a:ext cx="49377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API em Java 21 com Spring Boot 4, persistência em PostgreSQL versionada por Flyway, segurança com JWT e Spring Security, documentação em OpenAPI 3 e ambiente em Docker.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37584218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279172212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12</a:t>
            </a:r>
            <a:endParaRPr/>
          </a:p>
        </p:txBody>
      </p:sp>
      <p:sp>
        <p:nvSpPr>
          <p:cNvPr id="322281847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6  FUNCIONALIDADES</a:t>
            </a:r>
            <a:endParaRPr/>
          </a:p>
        </p:txBody>
      </p:sp>
      <p:sp>
        <p:nvSpPr>
          <p:cNvPr id="904492256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6230027" name="TextBox 5"/>
          <p:cNvSpPr txBox="1"/>
          <p:nvPr/>
        </p:nvSpPr>
        <p:spPr bwMode="auto">
          <a:xfrm>
            <a:off x="960120" y="2377440"/>
            <a:ext cx="786384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2000"/>
              </a:lnSpc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Bolsistas e vínculos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cadastro, lotação em laboratório, cargo, modalidade e vigência da bolsa, com alerta de bolsa vencida ou a vencer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Professores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 dos coordenadores, restrito ao perfil de administrador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Laboratórios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capacidade, coordenação e percentual de ocupação calculado em tempo real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Projetos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gestão por laboratório, com vínculo e desvínculo de bolsistas da equipe</a:t>
            </a:r>
            <a:endParaRPr/>
          </a:p>
        </p:txBody>
      </p:sp>
      <p:sp>
        <p:nvSpPr>
          <p:cNvPr id="792634999" name="TextBox 6"/>
          <p:cNvSpPr txBox="1"/>
          <p:nvPr/>
        </p:nvSpPr>
        <p:spPr bwMode="auto">
          <a:xfrm>
            <a:off x="9464040" y="2377440"/>
            <a:ext cx="786384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2000"/>
              </a:lnSpc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e) Frequência e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apontamento com descrição e link de entregável, resumo mensal e exportação em CSV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f) Comprovante em PDF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documento institucional gerado pela própria API, com tabela de apontamentos e campos de assinatura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g) Relatórios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ocupação dos laboratórios, horas no mês, projetos por laboratório e distribuição por cargo</a:t>
            </a:r>
            <a:endParaRPr/>
          </a:p>
          <a:p>
            <a:pPr algn="just">
              <a:lnSpc>
                <a:spcPct val="122000"/>
              </a:lnSpc>
              <a:spcBef>
                <a:spcPts val="1600"/>
              </a:spcBef>
              <a:defRPr/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h) Auditoria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toda ação relevante vira registro consultável, com filtros e exportação em CSV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5735154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395249114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13</a:t>
            </a:r>
            <a:endParaRPr/>
          </a:p>
        </p:txBody>
      </p:sp>
      <p:sp>
        <p:nvSpPr>
          <p:cNvPr id="196703396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  <a:endParaRPr/>
          </a:p>
        </p:txBody>
      </p:sp>
      <p:sp>
        <p:nvSpPr>
          <p:cNvPr id="1316616345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1852488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7.1 RECURSOS E ENDPOINTS</a:t>
            </a:r>
            <a:endParaRPr/>
          </a:p>
        </p:txBody>
      </p:sp>
      <p:sp>
        <p:nvSpPr>
          <p:cNvPr id="816951751" name="TextBox 6"/>
          <p:cNvSpPr txBox="1"/>
          <p:nvPr/>
        </p:nvSpPr>
        <p:spPr bwMode="auto">
          <a:xfrm>
            <a:off x="960120" y="2724911"/>
            <a:ext cx="163769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2 – Recursos da API e principais operações</a:t>
            </a:r>
            <a:endParaRPr/>
          </a:p>
        </p:txBody>
      </p:sp>
      <p:graphicFrame>
        <p:nvGraphicFramePr>
          <p:cNvPr id="1604546949" name="Table 7"/>
          <p:cNvGraphicFramePr>
            <a:graphicFrameLocks xmlns:a="http://schemas.openxmlformats.org/drawingml/2006/main" noGrp="1"/>
          </p:cNvGraphicFramePr>
          <p:nvPr/>
        </p:nvGraphicFramePr>
        <p:xfrm rot="0">
          <a:off x="960120" y="3090672"/>
          <a:ext cx="16376904" cy="50292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{5C22544A-7EE6-4342-B048-85BDC9FD1C3A}</a:tableStyleId>
              </a:tblPr>
              <a:tblGrid>
                <a:gridCol w="2011680"/>
                <a:gridCol w="3200400"/>
                <a:gridCol w="11164824"/>
              </a:tblGrid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Recurso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Base da URL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Principais operações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/api/v1/bolsistas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paginada e busca por nome ou curso, cadastro, atualização (PUT), desativação, exportação CSV, cargos e modalidades — cobre também os administradores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/api/v1/professores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 dos coordenadores — restrito a administradores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Laboratórios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/api/v1/laboratorios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consulta de bolsistas e projetos vinculados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Projetos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/api/v1/projetos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vincular e desvincular bolsista da equipe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Frequências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/api/v1/frequencias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Registro, atualização, resumo mensal, exportação CSV e comprovante em PDF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Relatórios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/api/v1/relatorios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Indicadores agregados: ocupação, horas no mês, projetos e distribuição por cargo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Auditoria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/api/v1/auditoria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Consulta filtrada e exportação dos registros de operações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Autenticação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/api/v1/auth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Login, logout, perfil próprio, cadastro de administrador e recuperação de senha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Cursos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/api/v1/cursos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dos cursos disponíveis e cadastro restrito a administradores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1577621" name="TextBox 8"/>
          <p:cNvSpPr txBox="1"/>
          <p:nvPr/>
        </p:nvSpPr>
        <p:spPr bwMode="auto">
          <a:xfrm>
            <a:off x="960120" y="8247888"/>
            <a:ext cx="163769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367493704" name="TextBox 9"/>
          <p:cNvSpPr txBox="1"/>
          <p:nvPr/>
        </p:nvSpPr>
        <p:spPr bwMode="auto">
          <a:xfrm>
            <a:off x="960120" y="9052560"/>
            <a:ext cx="163769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Os 53 endpoints estão documentados de forma interativa em /swagger-ui.html e disponíveis como coleção Postman no repositório.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0681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288263080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14</a:t>
            </a:r>
            <a:endParaRPr/>
          </a:p>
        </p:txBody>
      </p:sp>
      <p:sp>
        <p:nvSpPr>
          <p:cNvPr id="67800666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  <a:endParaRPr/>
          </a:p>
        </p:txBody>
      </p:sp>
      <p:sp>
        <p:nvSpPr>
          <p:cNvPr id="813012044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1126316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8 – Trecho de código: verbo, status e links HATEOAS</a:t>
            </a:r>
            <a:endParaRPr/>
          </a:p>
        </p:txBody>
      </p:sp>
      <p:pic>
        <p:nvPicPr>
          <p:cNvPr id="57203575" name="Picture 6" descr="cod_controller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017519"/>
            <a:ext cx="10433304" cy="4490565"/>
          </a:xfrm>
          <a:prstGeom prst="rect">
            <a:avLst/>
          </a:prstGeom>
        </p:spPr>
      </p:pic>
      <p:sp>
        <p:nvSpPr>
          <p:cNvPr id="555656530" name="TextBox 7"/>
          <p:cNvSpPr txBox="1"/>
          <p:nvPr/>
        </p:nvSpPr>
        <p:spPr bwMode="auto">
          <a:xfrm>
            <a:off x="960120" y="7636101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268246967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7.2 BOAS PRÁTICAS NO CONTROLLER</a:t>
            </a:r>
            <a:endParaRPr/>
          </a:p>
        </p:txBody>
      </p:sp>
      <p:sp>
        <p:nvSpPr>
          <p:cNvPr id="154472591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controller por recurso, mapeado em /api/v1/&lt;recurso&gt;, com os verbos correspondendo às operações;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PUT para edição, substituindo o recurso inteiro, e PATCH só no perfil, onde a alteração é pontual; POST devolve 201 Created com o header Location do recurso criado;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DELETE devolve 204 No Content e faz exclusão lógica, preservando o histórico;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permissão não é decidida aqui: o controller chama o service, que devolve a entidade ou lança a exceção;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respostas de recurso individual carregam links HATEOAS de navegação.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566847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393240930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15</a:t>
            </a:r>
            <a:endParaRPr/>
          </a:p>
        </p:txBody>
      </p:sp>
      <p:sp>
        <p:nvSpPr>
          <p:cNvPr id="292810540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  <a:endParaRPr/>
          </a:p>
        </p:txBody>
      </p:sp>
      <p:sp>
        <p:nvSpPr>
          <p:cNvPr id="1406991959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9137322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9 – Trecho de código: busca com 404 e permissão no service</a:t>
            </a:r>
            <a:endParaRPr/>
          </a:p>
        </p:txBody>
      </p:sp>
      <p:pic>
        <p:nvPicPr>
          <p:cNvPr id="1355181635" name="Picture 6" descr="cod_servic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974977641" name="TextBox 7"/>
          <p:cNvSpPr txBox="1"/>
          <p:nvPr/>
        </p:nvSpPr>
        <p:spPr bwMode="auto"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230225328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7.3 REGRAS NA CAMADA DE SERVICE</a:t>
            </a:r>
            <a:endParaRPr/>
          </a:p>
        </p:txBody>
      </p:sp>
      <p:sp>
        <p:nvSpPr>
          <p:cNvPr id="1746663392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a busca que pode falhar vive no service: buscarOuFalhar lança a exceção de recurso inexistente, e nenhum controller checa null na mão;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permissões são métodos nomeados do domínio — ver, editar e excluir têm regras distintas;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service recebe o usuário autenticado como parâmetro e decide; o controller apenas repassa;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o mesmo método é reaproveitado por vários endpoints, o que elimina a duplicação de regra que existia antes no controller.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8850250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016194619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16</a:t>
            </a:r>
            <a:endParaRPr/>
          </a:p>
        </p:txBody>
      </p:sp>
      <p:sp>
        <p:nvSpPr>
          <p:cNvPr id="590285311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  <a:endParaRPr/>
          </a:p>
        </p:txBody>
      </p:sp>
      <p:sp>
        <p:nvSpPr>
          <p:cNvPr id="871244397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2424105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10 – Trecho de código: exceções de domínio mapeadas para HTTP</a:t>
            </a:r>
            <a:endParaRPr/>
          </a:p>
        </p:txBody>
      </p:sp>
      <p:pic>
        <p:nvPicPr>
          <p:cNvPr id="74119159" name="Picture 6" descr="cod_exceptio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2030340755" name="TextBox 7"/>
          <p:cNvSpPr txBox="1"/>
          <p:nvPr/>
        </p:nvSpPr>
        <p:spPr bwMode="auto"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280774022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7.4 TRATAMENTO DE ERROS</a:t>
            </a:r>
            <a:endParaRPr/>
          </a:p>
        </p:txBody>
      </p:sp>
      <p:sp>
        <p:nvSpPr>
          <p:cNvPr id="985715977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único @RestControllerAdvice concentra a tradução de exceção para status HTTP;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cada exceção de domínio tem um significado HTTP próprio: 404 para recurso inexistente, 403 para permissão negada, 409 para conflito de regra, 401 para credencial inválida e 429 para conta bloqueada;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corpo de erro é sempre o mesmo objeto, com a mensagem do domínio;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falhas de Bean Validation respondem em lista, com o campo e a mensagem de cada violação.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8494142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2019321951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17</a:t>
            </a:r>
            <a:endParaRPr/>
          </a:p>
        </p:txBody>
      </p:sp>
      <p:sp>
        <p:nvSpPr>
          <p:cNvPr id="708424351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  <a:endParaRPr/>
          </a:p>
        </p:txBody>
      </p:sp>
      <p:sp>
        <p:nvSpPr>
          <p:cNvPr id="1208093913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2848039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11 – Trecho de código: entidade Bolsista</a:t>
            </a:r>
            <a:endParaRPr/>
          </a:p>
        </p:txBody>
      </p:sp>
      <p:pic>
        <p:nvPicPr>
          <p:cNvPr id="1679932280" name="Picture 6" descr="cod_entidad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80360"/>
            <a:ext cx="10433304" cy="6137717"/>
          </a:xfrm>
          <a:prstGeom prst="rect">
            <a:avLst/>
          </a:prstGeom>
        </p:spPr>
      </p:pic>
      <p:sp>
        <p:nvSpPr>
          <p:cNvPr id="192591225" name="TextBox 7"/>
          <p:cNvSpPr txBox="1"/>
          <p:nvPr/>
        </p:nvSpPr>
        <p:spPr bwMode="auto">
          <a:xfrm>
            <a:off x="960120" y="9146093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263654375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8.1 MAPEAMENTO JPA</a:t>
            </a:r>
            <a:endParaRPr/>
          </a:p>
        </p:txBody>
      </p:sp>
      <p:sp>
        <p:nvSpPr>
          <p:cNvPr id="325080695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@Entity e @Table por tabela, com chave primária em UUID gerada pelo banco;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Usuario é @MappedSuperclass: Bolsista e Professor herdam os atributos comuns, mas cada um tem a sua própria tabela — não há tabela de usuário;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relacionamento @ManyToOne com o laboratório é somente leitura (insertable e updatable falsos): enriquece a resposta sem abrir uma segunda via de escrita;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tabela associativa bolsista_projeto é mapeada como @ManyToMany: vincular um bolsista a um projeto é alterar uma coleção, e o JPA emite o INSERT ou o DELETE correspondente;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enums persistidos como texto com @Enumerated(EnumType.STRING), legíveis direto no banco.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6182957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161343163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18</a:t>
            </a:r>
            <a:endParaRPr/>
          </a:p>
        </p:txBody>
      </p:sp>
      <p:sp>
        <p:nvSpPr>
          <p:cNvPr id="1562449629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  <a:endParaRPr/>
          </a:p>
        </p:txBody>
      </p:sp>
      <p:sp>
        <p:nvSpPr>
          <p:cNvPr id="131453316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6640558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12 – Trecho de código: repositório Spring Data JPA</a:t>
            </a:r>
            <a:endParaRPr/>
          </a:p>
        </p:txBody>
      </p:sp>
      <p:pic>
        <p:nvPicPr>
          <p:cNvPr id="39429830" name="Picture 6" descr="cod_repositorio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80360"/>
            <a:ext cx="10433304" cy="4719439"/>
          </a:xfrm>
          <a:prstGeom prst="rect">
            <a:avLst/>
          </a:prstGeom>
        </p:spPr>
      </p:pic>
      <p:sp>
        <p:nvSpPr>
          <p:cNvPr id="1247956260" name="TextBox 7"/>
          <p:cNvSpPr txBox="1"/>
          <p:nvPr/>
        </p:nvSpPr>
        <p:spPr bwMode="auto">
          <a:xfrm>
            <a:off x="960120" y="7727815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465580642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8.2 REPOSITÓRIOS E MIGRATIONS</a:t>
            </a:r>
            <a:endParaRPr/>
          </a:p>
        </p:txBody>
      </p:sp>
      <p:sp>
        <p:nvSpPr>
          <p:cNvPr id="1636183505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uma interface por entidade estendendo JpaRepository: nenhuma implementação é escrita à mão;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consultas são derivadas do nome do método, inclusive as que navegam por associação — findByProjetos_Id percorre o relacionamento N:N sem uma linha de SQL;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filtros opcionais (período, termo de busca, laboratório) usam Specification, a Criteria API do próprio JPA: cada predicado só entra no WHERE se o parâmetro tiver sido informado;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@Query ficou restrito ao repositório de relatórios, onde há agregação com GROUP BY;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a exclusão é um soft delete e o schema é versionado em 12 migrations do Flyway.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1891856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299913734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19</a:t>
            </a:r>
            <a:endParaRPr/>
          </a:p>
        </p:txBody>
      </p:sp>
      <p:sp>
        <p:nvSpPr>
          <p:cNvPr id="530159214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  <a:endParaRPr/>
          </a:p>
        </p:txBody>
      </p:sp>
      <p:sp>
        <p:nvSpPr>
          <p:cNvPr id="14054343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7884063" name="TextBox 5"/>
          <p:cNvSpPr txBox="1"/>
          <p:nvPr/>
        </p:nvSpPr>
        <p:spPr bwMode="auto"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13 – Trecho de código: cadeia de filtros e sessão stateless</a:t>
            </a:r>
            <a:endParaRPr/>
          </a:p>
        </p:txBody>
      </p:sp>
      <p:pic>
        <p:nvPicPr>
          <p:cNvPr id="1003618333" name="Picture 6" descr="cod_seguranca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2880360"/>
            <a:ext cx="10433304" cy="5518239"/>
          </a:xfrm>
          <a:prstGeom prst="rect">
            <a:avLst/>
          </a:prstGeom>
        </p:spPr>
      </p:pic>
      <p:sp>
        <p:nvSpPr>
          <p:cNvPr id="307600202" name="TextBox 7"/>
          <p:cNvSpPr txBox="1"/>
          <p:nvPr/>
        </p:nvSpPr>
        <p:spPr bwMode="auto">
          <a:xfrm>
            <a:off x="960120" y="8526615"/>
            <a:ext cx="104333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360476310" name="TextBox 8"/>
          <p:cNvSpPr txBox="1"/>
          <p:nvPr/>
        </p:nvSpPr>
        <p:spPr bwMode="auto"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9.1 AUTENTICAÇÃO E SESSÃO</a:t>
            </a:r>
            <a:endParaRPr/>
          </a:p>
        </p:txBody>
      </p:sp>
      <p:sp>
        <p:nvSpPr>
          <p:cNvPr id="183708619" name="TextBox 9"/>
          <p:cNvSpPr txBox="1"/>
          <p:nvPr/>
        </p:nvSpPr>
        <p:spPr bwMode="auto"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sessão stateless: o servidor não guarda estado, e o usuário é reconstruído a cada requisição a partir do token;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o JWT viaja em cookie httpOnly — inacessível a JavaScript no navegador;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filtro roda antes da autenticação padrão do Spring Security e popula o contexto;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as rotas públicas são explícitas; o restante de /api/** exige token válido;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senhas com BCrypt e bloqueio temporário após cinco tentativas malsucedidas.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857250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639524403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20</a:t>
            </a:r>
            <a:endParaRPr/>
          </a:p>
        </p:txBody>
      </p:sp>
      <p:sp>
        <p:nvSpPr>
          <p:cNvPr id="804344185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  <a:endParaRPr/>
          </a:p>
        </p:txBody>
      </p:sp>
      <p:sp>
        <p:nvSpPr>
          <p:cNvPr id="1186555021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1355292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9.2 PERFIS DE ACESSO</a:t>
            </a:r>
            <a:endParaRPr/>
          </a:p>
        </p:txBody>
      </p:sp>
      <p:sp>
        <p:nvSpPr>
          <p:cNvPr id="821890382" name="TextBox 6"/>
          <p:cNvSpPr txBox="1"/>
          <p:nvPr/>
        </p:nvSpPr>
        <p:spPr bwMode="auto">
          <a:xfrm>
            <a:off x="960120" y="2724911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3 – Perfis de acesso e permissões</a:t>
            </a:r>
            <a:endParaRPr/>
          </a:p>
        </p:txBody>
      </p:sp>
      <p:graphicFrame>
        <p:nvGraphicFramePr>
          <p:cNvPr id="1488878708" name="Table 7"/>
          <p:cNvGraphicFramePr>
            <a:graphicFrameLocks xmlns:a="http://schemas.openxmlformats.org/drawingml/2006/main" noGrp="1"/>
          </p:cNvGraphicFramePr>
          <p:nvPr/>
        </p:nvGraphicFramePr>
        <p:xfrm rot="0">
          <a:off x="960120" y="3090672"/>
          <a:ext cx="10789920" cy="347472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{5C22544A-7EE6-4342-B048-85BDC9FD1C3A}</a:tableStyleId>
              </a:tblPr>
              <a:tblGrid>
                <a:gridCol w="2103120"/>
                <a:gridCol w="8686800"/>
              </a:tblGrid>
              <a:tr h="8686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Papel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Permissões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ADMIN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Acesso irrestrito: todos os laboratórios, bolsistas, professores e projetos, relatórios globais, auditoria completa e cadastro de cursos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Gerencia os laboratórios que coordena, os projetos associados e os bolsistas vinculados a eles; consulta a auditoria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Apontamento e edição da própria frequência, emissão do comprovante em PDF e visualização da equipe e dos projetos do seu laboratório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5382938" name="TextBox 8"/>
          <p:cNvSpPr txBox="1"/>
          <p:nvPr/>
        </p:nvSpPr>
        <p:spPr bwMode="auto">
          <a:xfrm>
            <a:off x="960120" y="6693407"/>
            <a:ext cx="1078992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440547010" name="TextBox 9"/>
          <p:cNvSpPr txBox="1"/>
          <p:nvPr/>
        </p:nvSpPr>
        <p:spPr bwMode="auto"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CONTROLES APLICADOS</a:t>
            </a:r>
            <a:endParaRPr/>
          </a:p>
        </p:txBody>
      </p:sp>
      <p:sp>
        <p:nvSpPr>
          <p:cNvPr id="1192081047" name="TextBox 10"/>
          <p:cNvSpPr txBox="1"/>
          <p:nvPr/>
        </p:nvSpPr>
        <p:spPr bwMode="auto">
          <a:xfrm>
            <a:off x="12435840" y="3767328"/>
            <a:ext cx="4937760" cy="502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sem token, a requisição é recusada com 401; autenticado sem o papel exigido, 403;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rate limiting: cinco tentativas de login malsucedidas bloqueiam a conta por cinco minutos (429);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recuperação de senha por código numérico de seis dígitos, válido por quinze minutos;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permissão é verificada no service — a mesma regra vale para qualquer endpoint que a use.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6143756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996968763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21</a:t>
            </a:r>
            <a:endParaRPr/>
          </a:p>
        </p:txBody>
      </p:sp>
      <p:sp>
        <p:nvSpPr>
          <p:cNvPr id="839176158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  <a:endParaRPr/>
          </a:p>
        </p:txBody>
      </p:sp>
      <p:sp>
        <p:nvSpPr>
          <p:cNvPr id="480383394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0249943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10.1 TESTES AUTOMATIZADOS</a:t>
            </a:r>
            <a:endParaRPr/>
          </a:p>
        </p:txBody>
      </p:sp>
      <p:sp>
        <p:nvSpPr>
          <p:cNvPr id="951409273" name="TextBox 6"/>
          <p:cNvSpPr txBox="1"/>
          <p:nvPr/>
        </p:nvSpPr>
        <p:spPr bwMode="auto">
          <a:xfrm>
            <a:off x="960120" y="2724911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4 – Testes automatizados por área</a:t>
            </a:r>
            <a:endParaRPr/>
          </a:p>
        </p:txBody>
      </p:sp>
      <p:graphicFrame>
        <p:nvGraphicFramePr>
          <p:cNvPr id="1661767234" name="Table 7"/>
          <p:cNvGraphicFramePr>
            <a:graphicFrameLocks xmlns:a="http://schemas.openxmlformats.org/drawingml/2006/main" noGrp="1"/>
          </p:cNvGraphicFramePr>
          <p:nvPr/>
        </p:nvGraphicFramePr>
        <p:xfrm rot="0">
          <a:off x="960120" y="3090672"/>
          <a:ext cx="10058400" cy="3621024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{5C22544A-7EE6-4342-B048-85BDC9FD1C3A}</a:tableStyleId>
              </a:tblPr>
              <a:tblGrid>
                <a:gridCol w="7863840"/>
                <a:gridCol w="2194560"/>
              </a:tblGrid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Área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Testes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Regras de negócio e permissões (services)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Controller de autenticação (MockMvc)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Utilitários de domínio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Modelo e enums do domínio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Segurança: rate limiting e reset de senha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Tratamento de exceções da API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Contexto da aplicação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  <a:endParaRPr/>
                    </a:p>
                  </a:txBody>
                  <a:tcPr marL="73152" marR="73152" marT="27432" marB="27432" anchor="ctr">
                    <a:lnL w="9525" algn="ctr">
                      <a:solidFill>
                        <a:srgbClr val="9A9A9A"/>
                      </a:solidFill>
                    </a:lnL>
                    <a:lnR w="9525" algn="ctr">
                      <a:solidFill>
                        <a:srgbClr val="9A9A9A"/>
                      </a:solidFill>
                    </a:lnR>
                    <a:lnT w="9525" algn="ctr">
                      <a:solidFill>
                        <a:srgbClr val="9A9A9A"/>
                      </a:solidFill>
                    </a:lnT>
                    <a:lnB w="9525" algn="ctr">
                      <a:solidFill>
                        <a:srgbClr val="9A9A9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5912689" name="TextBox 8"/>
          <p:cNvSpPr txBox="1"/>
          <p:nvPr/>
        </p:nvSpPr>
        <p:spPr bwMode="auto">
          <a:xfrm>
            <a:off x="960120" y="6839712"/>
            <a:ext cx="10058400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378876366" name="TextBox 9"/>
          <p:cNvSpPr txBox="1"/>
          <p:nvPr/>
        </p:nvSpPr>
        <p:spPr bwMode="auto">
          <a:xfrm>
            <a:off x="11795760" y="3127248"/>
            <a:ext cx="55778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COMO A SUÍTE É ORGANIZADA</a:t>
            </a:r>
            <a:endParaRPr/>
          </a:p>
        </p:txBody>
      </p:sp>
      <p:sp>
        <p:nvSpPr>
          <p:cNvPr id="658111868" name="TextBox 10"/>
          <p:cNvSpPr txBox="1"/>
          <p:nvPr/>
        </p:nvSpPr>
        <p:spPr bwMode="auto">
          <a:xfrm>
            <a:off x="11795760" y="3767328"/>
            <a:ext cx="5577840" cy="502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151 testes em 17 arquivos, executados sem banco de dados externo;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o peso está na camada de service, onde vivem as regras — cada permissão tem teste de concessão e de negação;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 controller é testado com MockMvc, verificando status e corpo da resposta;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suíte roda com um único comando (mvn test) e é o que sustenta cada refatoração do projeto.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56219567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127383645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22</a:t>
            </a:r>
            <a:endParaRPr/>
          </a:p>
        </p:txBody>
      </p:sp>
      <p:sp>
        <p:nvSpPr>
          <p:cNvPr id="1528655286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  <a:endParaRPr/>
          </a:p>
        </p:txBody>
      </p:sp>
      <p:sp>
        <p:nvSpPr>
          <p:cNvPr id="792628736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0397066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10.2 CRITÉRIOS DE AVALIAÇÃO</a:t>
            </a:r>
            <a:endParaRPr/>
          </a:p>
        </p:txBody>
      </p:sp>
      <p:sp>
        <p:nvSpPr>
          <p:cNvPr id="1959962042" name="TextBox 6"/>
          <p:cNvSpPr txBox="1"/>
          <p:nvPr/>
        </p:nvSpPr>
        <p:spPr bwMode="auto">
          <a:xfrm>
            <a:off x="960120" y="2788920"/>
            <a:ext cx="16376904" cy="6035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a) Boas práticas de REST no controller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um recurso por controller, verbos e status coerentes, 201 com Location, 204 no delete lógico e links HATEOAS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b) Regras na camada correta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permissões, busca com 404 e validações de domínio concentradas no service, com o controller reduzido a orquestração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c) Persistência com JPA e Spring Data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entidades mapeadas, herança por @MappedSuperclass, repositórios declarativos e schema versionado com Flyway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d) Documentação gerada do código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OpenAPI 3 e Swagger UI a partir das anotações, mais coleções Postman de fluxo e de casos negativos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e) Segurança concreta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sessão stateless com JWT em cookie httpOnly, BCrypt, rate limiting e três perfis com permissões efetivamente distintas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f) Erros com significado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exceções de domínio traduzidas para 400, 401, 403, 404, 409 e 429, com corpo de erro padronizado</a:t>
            </a:r>
            <a:endParaRPr/>
          </a:p>
          <a:p>
            <a:pPr algn="just">
              <a:lnSpc>
                <a:spcPct val="120000"/>
              </a:lnSpc>
              <a:spcBef>
                <a:spcPts val="1300"/>
              </a:spcBef>
              <a:defRPr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g) Qualidade verificável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151 testes automatizados cobrindo a matriz de autorização e as regras de domínio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5394058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744003349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23</a:t>
            </a:r>
            <a:endParaRPr/>
          </a:p>
        </p:txBody>
      </p:sp>
      <p:sp>
        <p:nvSpPr>
          <p:cNvPr id="770402276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  <a:endParaRPr/>
          </a:p>
        </p:txBody>
      </p:sp>
      <p:sp>
        <p:nvSpPr>
          <p:cNvPr id="135792110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8683185" name="TextBox 5"/>
          <p:cNvSpPr txBox="1"/>
          <p:nvPr/>
        </p:nvSpPr>
        <p:spPr bwMode="auto"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11.1 SWAGGER E COLEÇÕES POSTMAN</a:t>
            </a:r>
            <a:endParaRPr/>
          </a:p>
        </p:txBody>
      </p:sp>
      <p:sp>
        <p:nvSpPr>
          <p:cNvPr id="1833900360" name="TextBox 6"/>
          <p:cNvSpPr txBox="1"/>
          <p:nvPr/>
        </p:nvSpPr>
        <p:spPr bwMode="auto">
          <a:xfrm>
            <a:off x="960120" y="2697480"/>
            <a:ext cx="163769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14 – Swagger UI: visão geral e os recursos após a divisão por tipo de usuário</a:t>
            </a:r>
            <a:endParaRPr/>
          </a:p>
        </p:txBody>
      </p:sp>
      <p:pic>
        <p:nvPicPr>
          <p:cNvPr id="1831090701" name="Picture 7" descr="swagger_visao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154680"/>
            <a:ext cx="7680960" cy="5530291"/>
          </a:xfrm>
          <a:prstGeom prst="rect">
            <a:avLst/>
          </a:prstGeom>
        </p:spPr>
      </p:pic>
      <p:pic>
        <p:nvPicPr>
          <p:cNvPr id="290110136" name="Picture 8" descr="swagger_recursos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646920" y="3154680"/>
            <a:ext cx="7680960" cy="5409126"/>
          </a:xfrm>
          <a:prstGeom prst="rect">
            <a:avLst/>
          </a:prstGeom>
        </p:spPr>
      </p:pic>
      <p:sp>
        <p:nvSpPr>
          <p:cNvPr id="932411336" name="TextBox 9"/>
          <p:cNvSpPr txBox="1"/>
          <p:nvPr/>
        </p:nvSpPr>
        <p:spPr bwMode="auto">
          <a:xfrm>
            <a:off x="960120" y="8833104"/>
            <a:ext cx="163769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  <p:sp>
        <p:nvSpPr>
          <p:cNvPr id="1648956194" name="TextBox 10"/>
          <p:cNvSpPr txBox="1"/>
          <p:nvPr/>
        </p:nvSpPr>
        <p:spPr bwMode="auto">
          <a:xfrm>
            <a:off x="960120" y="9189720"/>
            <a:ext cx="163769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A documentação é gerada do próprio código, então não desatualiza em relação à API real.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50211637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785529438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24</a:t>
            </a:r>
            <a:endParaRPr/>
          </a:p>
        </p:txBody>
      </p:sp>
      <p:sp>
        <p:nvSpPr>
          <p:cNvPr id="374538944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  <a:endParaRPr/>
          </a:p>
        </p:txBody>
      </p:sp>
      <p:sp>
        <p:nvSpPr>
          <p:cNvPr id="741832855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6268221" name="TextBox 5"/>
          <p:cNvSpPr txBox="1"/>
          <p:nvPr/>
        </p:nvSpPr>
        <p:spPr bwMode="auto">
          <a:xfrm>
            <a:off x="960120" y="2103120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11.2 SUCESSO E CASOS NEGATIVOS</a:t>
            </a:r>
            <a:endParaRPr/>
          </a:p>
        </p:txBody>
      </p:sp>
      <p:sp>
        <p:nvSpPr>
          <p:cNvPr id="1799804656" name="TextBox 6"/>
          <p:cNvSpPr txBox="1"/>
          <p:nvPr/>
        </p:nvSpPr>
        <p:spPr bwMode="auto">
          <a:xfrm>
            <a:off x="960120" y="2670048"/>
            <a:ext cx="163769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15 – Respostas reais da API: criação bem-sucedida e exceções de domínio</a:t>
            </a:r>
            <a:endParaRPr/>
          </a:p>
        </p:txBody>
      </p:sp>
      <p:pic>
        <p:nvPicPr>
          <p:cNvPr id="88576790" name="Picture 7" descr="http_201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60120" y="3154680"/>
            <a:ext cx="5760720" cy="4058107"/>
          </a:xfrm>
          <a:prstGeom prst="rect">
            <a:avLst/>
          </a:prstGeom>
        </p:spPr>
      </p:pic>
      <p:pic>
        <p:nvPicPr>
          <p:cNvPr id="1530783160" name="Picture 8" descr="http_erros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178039" y="3154680"/>
            <a:ext cx="10149840" cy="3931371"/>
          </a:xfrm>
          <a:prstGeom prst="rect">
            <a:avLst/>
          </a:prstGeom>
        </p:spPr>
      </p:pic>
      <p:sp>
        <p:nvSpPr>
          <p:cNvPr id="677902902" name="TextBox 9"/>
          <p:cNvSpPr txBox="1"/>
          <p:nvPr/>
        </p:nvSpPr>
        <p:spPr bwMode="auto">
          <a:xfrm>
            <a:off x="960120" y="7772400"/>
            <a:ext cx="57607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Cada exceção de domínio tem um status HTTP próprio e um corpo de erro padronizado; a Bean Validation responde em lista, com o campo que falhou.</a:t>
            </a:r>
            <a:endParaRPr/>
          </a:p>
        </p:txBody>
      </p:sp>
      <p:sp>
        <p:nvSpPr>
          <p:cNvPr id="1944999682" name="TextBox 10"/>
          <p:cNvSpPr txBox="1"/>
          <p:nvPr/>
        </p:nvSpPr>
        <p:spPr bwMode="auto">
          <a:xfrm>
            <a:off x="960120" y="9235440"/>
            <a:ext cx="1637690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8000"/>
              </a:lnSpc>
              <a:defRPr/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9313775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569546376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25</a:t>
            </a:r>
            <a:endParaRPr/>
          </a:p>
        </p:txBody>
      </p:sp>
      <p:sp>
        <p:nvSpPr>
          <p:cNvPr id="1533341205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12  CONSIDERAÇÕES FINAIS</a:t>
            </a:r>
            <a:endParaRPr/>
          </a:p>
        </p:txBody>
      </p:sp>
      <p:sp>
        <p:nvSpPr>
          <p:cNvPr id="1718917317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374039" name="TextBox 5"/>
          <p:cNvSpPr txBox="1"/>
          <p:nvPr/>
        </p:nvSpPr>
        <p:spPr bwMode="auto">
          <a:xfrm>
            <a:off x="960120" y="2286000"/>
            <a:ext cx="16376904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entrega uma API REST completa para a gestão de bolsistas de pesquisa: as boas práticas de REST aparecem na camada de controller, as regras de negócio e as permissões ficam no service, a persistência usa JPA com Spring Data sobre um schema versionado, e a documentação é gerada do próprio código. São características pensadas para uso real — e não para atender a um requisito acadêmico isolado.</a:t>
            </a:r>
            <a:endParaRPr/>
          </a:p>
        </p:txBody>
      </p:sp>
      <p:sp>
        <p:nvSpPr>
          <p:cNvPr id="1042902251" name="TextBox 6"/>
          <p:cNvSpPr txBox="1"/>
          <p:nvPr/>
        </p:nvSpPr>
        <p:spPr bwMode="auto">
          <a:xfrm>
            <a:off x="960120" y="4846320"/>
            <a:ext cx="78638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O QUE PODE SER IMPLEMENTADO FUTURAMENTE</a:t>
            </a:r>
            <a:endParaRPr/>
          </a:p>
        </p:txBody>
      </p:sp>
      <p:sp>
        <p:nvSpPr>
          <p:cNvPr id="1836609420" name="TextBox 7"/>
          <p:cNvSpPr txBox="1"/>
          <p:nvPr/>
        </p:nvSpPr>
        <p:spPr bwMode="auto">
          <a:xfrm>
            <a:off x="960120" y="5577840"/>
            <a:ext cx="78638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a) notificações por e-mail para prazos de entregáveis dos projetos;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b) aplicativo mobile para apontamento de frequência em campo, consumindo esta mesma API;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c) assinatura digital dos comprovantes de frequência em PDF;</a:t>
            </a:r>
            <a:endParaRPr/>
          </a:p>
          <a:p>
            <a:pPr algn="just">
              <a:lnSpc>
                <a:spcPct val="120000"/>
              </a:lnSpc>
              <a:spcBef>
                <a:spcPts val="10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d) relatórios comparativos por período e por laboratório.</a:t>
            </a:r>
            <a:endParaRPr/>
          </a:p>
        </p:txBody>
      </p:sp>
      <p:sp>
        <p:nvSpPr>
          <p:cNvPr id="1190549755" name="TextBox 8"/>
          <p:cNvSpPr txBox="1"/>
          <p:nvPr/>
        </p:nvSpPr>
        <p:spPr bwMode="auto">
          <a:xfrm>
            <a:off x="9464040" y="4846320"/>
            <a:ext cx="78638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defRPr/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REPOSITÓRIO</a:t>
            </a:r>
            <a:endParaRPr/>
          </a:p>
        </p:txBody>
      </p:sp>
      <p:sp>
        <p:nvSpPr>
          <p:cNvPr id="1554142677" name="TextBox 9"/>
          <p:cNvSpPr txBox="1"/>
          <p:nvPr/>
        </p:nvSpPr>
        <p:spPr bwMode="auto">
          <a:xfrm>
            <a:off x="9464040" y="5577840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 branch main contém somente o backend; o frontend construído na disciplina anterior permanece arquivado na branch fullstack.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9112265" name="Picture 1" descr="logo_ufsm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1778419450" name="TextBox 2"/>
          <p:cNvSpPr txBox="1"/>
          <p:nvPr/>
        </p:nvSpPr>
        <p:spPr bwMode="auto"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8000"/>
              </a:lnSpc>
              <a:defRPr/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26</a:t>
            </a:r>
            <a:endParaRPr/>
          </a:p>
        </p:txBody>
      </p:sp>
      <p:sp>
        <p:nvSpPr>
          <p:cNvPr id="459447274" name="TextBox 3"/>
          <p:cNvSpPr txBox="1"/>
          <p:nvPr/>
        </p:nvSpPr>
        <p:spPr bwMode="auto"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REFERÊNCIAS</a:t>
            </a:r>
            <a:endParaRPr/>
          </a:p>
        </p:txBody>
      </p:sp>
      <p:sp>
        <p:nvSpPr>
          <p:cNvPr id="717601612" name="Rectangle 4"/>
          <p:cNvSpPr/>
          <p:nvPr/>
        </p:nvSpPr>
        <p:spPr bwMode="auto"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0033757" name="TextBox 5"/>
          <p:cNvSpPr txBox="1"/>
          <p:nvPr/>
        </p:nvSpPr>
        <p:spPr bwMode="auto">
          <a:xfrm>
            <a:off x="960120" y="2377440"/>
            <a:ext cx="16376904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5000"/>
              </a:lnSpc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ASSOCIAÇÃO BRASILEIRA DE NORMAS TÉCNICAS.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NBR 6023: informação e documentação — referências — elaboração.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Rio de Janeiro: ABNT, 2018.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CHEN, P. P.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The entity-relationship model: toward a unified view of data.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ACM Transactions on Database Systems, New York, v. 1, n. 1, p. 9-36, mar. 1976.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FIELDING, R. 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Architectural styles and the design of network-based software architectures.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2000. Tese (Doutorado em Ciência da Computação) — University of California, Irvine, 2000.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RICHARDSON, L.; AMUNDSEN, M.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RESTful Web APIs.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Sebastopol: O'Reilly Media, 2013.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Boot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https://docs.spring.io/spring-boot/index.html. Acesso em: 21 set. 2026.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Data JPA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https://docs.spring.io/spring-data/jpa/reference/index.html. Acesso em: 21 set. 2026.</a:t>
            </a:r>
            <a:endParaRPr/>
          </a:p>
          <a:p>
            <a:pPr algn="just">
              <a:lnSpc>
                <a:spcPct val="125000"/>
              </a:lnSpc>
              <a:spcBef>
                <a:spcPts val="1400"/>
              </a:spcBef>
              <a:defRPr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RED HAT.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Flyway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https://documentation.red-gate.com/flyway. Acesso em: 21 set. 2026.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26</Slides>
  <Notes>26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2026-09-24T22:18:32Z</dcterms:modified>
  <cp:category/>
</cp:coreProperties>
</file>